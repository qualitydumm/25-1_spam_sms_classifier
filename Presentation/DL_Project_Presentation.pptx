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  <p:sldMasterId id="2147483675" r:id="rId2"/>
  </p:sldMasterIdLst>
  <p:notesMasterIdLst>
    <p:notesMasterId r:id="rId44"/>
  </p:notesMasterIdLst>
  <p:sldIdLst>
    <p:sldId id="256" r:id="rId3"/>
    <p:sldId id="258" r:id="rId4"/>
    <p:sldId id="260" r:id="rId5"/>
    <p:sldId id="326" r:id="rId6"/>
    <p:sldId id="316" r:id="rId7"/>
    <p:sldId id="317" r:id="rId8"/>
    <p:sldId id="298" r:id="rId9"/>
    <p:sldId id="307" r:id="rId10"/>
    <p:sldId id="341" r:id="rId11"/>
    <p:sldId id="333" r:id="rId12"/>
    <p:sldId id="349" r:id="rId13"/>
    <p:sldId id="334" r:id="rId14"/>
    <p:sldId id="343" r:id="rId15"/>
    <p:sldId id="344" r:id="rId16"/>
    <p:sldId id="335" r:id="rId17"/>
    <p:sldId id="346" r:id="rId18"/>
    <p:sldId id="347" r:id="rId19"/>
    <p:sldId id="312" r:id="rId20"/>
    <p:sldId id="332" r:id="rId21"/>
    <p:sldId id="299" r:id="rId22"/>
    <p:sldId id="352" r:id="rId23"/>
    <p:sldId id="348" r:id="rId24"/>
    <p:sldId id="350" r:id="rId25"/>
    <p:sldId id="351" r:id="rId26"/>
    <p:sldId id="328" r:id="rId27"/>
    <p:sldId id="353" r:id="rId28"/>
    <p:sldId id="354" r:id="rId29"/>
    <p:sldId id="356" r:id="rId30"/>
    <p:sldId id="355" r:id="rId31"/>
    <p:sldId id="358" r:id="rId32"/>
    <p:sldId id="357" r:id="rId33"/>
    <p:sldId id="339" r:id="rId34"/>
    <p:sldId id="340" r:id="rId35"/>
    <p:sldId id="296" r:id="rId36"/>
    <p:sldId id="359" r:id="rId37"/>
    <p:sldId id="360" r:id="rId38"/>
    <p:sldId id="363" r:id="rId39"/>
    <p:sldId id="361" r:id="rId40"/>
    <p:sldId id="362" r:id="rId41"/>
    <p:sldId id="327" r:id="rId42"/>
    <p:sldId id="295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B2571"/>
    <a:srgbClr val="893689"/>
    <a:srgbClr val="241160"/>
    <a:srgbClr val="545EEA"/>
    <a:srgbClr val="90C8F3"/>
    <a:srgbClr val="F8A208"/>
    <a:srgbClr val="AADEF6"/>
    <a:srgbClr val="C5EBFA"/>
    <a:srgbClr val="D6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6B3564-ABAC-4E7B-ACDF-7EF62158AF75}">
  <a:tblStyle styleId="{816B3564-ABAC-4E7B-ACDF-7EF62158AF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A3275D-5BF3-4C6B-A3F0-5913647444C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>
      <p:cViewPr>
        <p:scale>
          <a:sx n="66" d="100"/>
          <a:sy n="66" d="100"/>
        </p:scale>
        <p:origin x="131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6240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382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584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568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556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7408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2" name="Google Shape;10392;g2794383efc1_0_2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3" name="Google Shape;10393;g2794383efc1_0_2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3169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6" hasCustomPrompt="1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8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9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3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4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5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05" name="Google Shape;105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3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08" name="Google Shape;108;p1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9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2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dp.kt.co.kr/invoke/SOKBP2603/?goodsCode=KIS0000000000000002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713225" y="1833161"/>
            <a:ext cx="6609063" cy="920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00" dirty="0">
                <a:solidFill>
                  <a:schemeClr val="bg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 문자 </a:t>
            </a:r>
            <a:r>
              <a:rPr lang="ko-KR" altLang="en-US" sz="3400" dirty="0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분류 모델</a:t>
            </a:r>
            <a:endParaRPr sz="3400" dirty="0">
              <a:solidFill>
                <a:schemeClr val="dk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862081" y="2895120"/>
            <a:ext cx="3889298" cy="405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DL </a:t>
            </a:r>
            <a:r>
              <a:rPr lang="ko-KR" altLang="en-US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</a:t>
            </a:r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_ </a:t>
            </a:r>
            <a:r>
              <a:rPr lang="ko-KR" altLang="en-US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r>
              <a:rPr lang="ko-KR" altLang="en-US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</a:t>
            </a:r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AS </a:t>
            </a:r>
            <a:r>
              <a:rPr lang="ko-KR" altLang="en-US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센터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(Anticipating SPAM)</a:t>
            </a:r>
            <a:endParaRPr sz="10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Google Shape;253;p29"/>
          <p:cNvSpPr txBox="1">
            <a:spLocks/>
          </p:cNvSpPr>
          <p:nvPr/>
        </p:nvSpPr>
        <p:spPr>
          <a:xfrm>
            <a:off x="862081" y="3441916"/>
            <a:ext cx="2073891" cy="86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4800" b="0" i="0" u="none" strike="noStrike" cap="none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 altLang="ko-KR" sz="1200" dirty="0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20211204 </a:t>
            </a:r>
            <a:r>
              <a:rPr lang="ko-KR" altLang="en-US" sz="1200" dirty="0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이지우</a:t>
            </a:r>
            <a:endParaRPr lang="en-US" altLang="ko-KR" sz="1200" dirty="0">
              <a:solidFill>
                <a:schemeClr val="dk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200" dirty="0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20222061 </a:t>
            </a:r>
            <a:r>
              <a:rPr lang="ko-KR" altLang="en-US" sz="1200" dirty="0" err="1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장동환</a:t>
            </a:r>
            <a:endParaRPr lang="en-US" altLang="ko-KR" sz="1200" dirty="0">
              <a:solidFill>
                <a:schemeClr val="dk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200" dirty="0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20231842 </a:t>
            </a:r>
            <a:r>
              <a:rPr lang="ko-KR" altLang="en-US" sz="1200" dirty="0" err="1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나정연</a:t>
            </a:r>
            <a:endParaRPr lang="en-US" altLang="ko-KR" sz="1200" dirty="0">
              <a:solidFill>
                <a:schemeClr val="dk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200" dirty="0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20240605 </a:t>
            </a:r>
            <a:r>
              <a:rPr lang="ko-KR" altLang="en-US" sz="1200" dirty="0">
                <a:solidFill>
                  <a:schemeClr val="dk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이채윤</a:t>
            </a:r>
            <a:endParaRPr lang="en-US" altLang="ko-KR" sz="1200" dirty="0">
              <a:solidFill>
                <a:schemeClr val="dk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>
            <a:spLocks noGrp="1"/>
          </p:cNvSpPr>
          <p:nvPr>
            <p:ph type="title" idx="2"/>
          </p:nvPr>
        </p:nvSpPr>
        <p:spPr>
          <a:xfrm>
            <a:off x="991861" y="144089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0" name="Google Shape;270;p31"/>
          <p:cNvSpPr txBox="1">
            <a:spLocks noGrp="1"/>
          </p:cNvSpPr>
          <p:nvPr>
            <p:ph type="title" idx="3"/>
          </p:nvPr>
        </p:nvSpPr>
        <p:spPr>
          <a:xfrm>
            <a:off x="6547141" y="144017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 idx="5"/>
          </p:nvPr>
        </p:nvSpPr>
        <p:spPr>
          <a:xfrm>
            <a:off x="991861" y="297486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3" name="Google Shape;273;p31"/>
          <p:cNvSpPr txBox="1">
            <a:spLocks noGrp="1"/>
          </p:cNvSpPr>
          <p:nvPr>
            <p:ph type="title" idx="6"/>
          </p:nvPr>
        </p:nvSpPr>
        <p:spPr>
          <a:xfrm>
            <a:off x="3772800" y="144017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1"/>
          </p:nvPr>
        </p:nvSpPr>
        <p:spPr>
          <a:xfrm>
            <a:off x="1121001" y="1957791"/>
            <a:ext cx="1192338" cy="6079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문제의식과 해결방향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Google Shape;253;p29"/>
          <p:cNvSpPr txBox="1">
            <a:spLocks/>
          </p:cNvSpPr>
          <p:nvPr/>
        </p:nvSpPr>
        <p:spPr>
          <a:xfrm>
            <a:off x="829339" y="404981"/>
            <a:ext cx="2117061" cy="63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</a:p>
        </p:txBody>
      </p:sp>
      <p:sp>
        <p:nvSpPr>
          <p:cNvPr id="22" name="Google Shape;275;p31"/>
          <p:cNvSpPr txBox="1">
            <a:spLocks/>
          </p:cNvSpPr>
          <p:nvPr/>
        </p:nvSpPr>
        <p:spPr>
          <a:xfrm>
            <a:off x="3899179" y="1933007"/>
            <a:ext cx="1468523" cy="84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수집 및 정제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Google Shape;275;p31"/>
          <p:cNvSpPr txBox="1">
            <a:spLocks/>
          </p:cNvSpPr>
          <p:nvPr/>
        </p:nvSpPr>
        <p:spPr>
          <a:xfrm>
            <a:off x="6676280" y="1944112"/>
            <a:ext cx="1475859" cy="63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 및 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구현 </a:t>
            </a:r>
            <a: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</a:t>
            </a:r>
            <a: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8" name="Google Shape;275;p31"/>
          <p:cNvSpPr txBox="1">
            <a:spLocks/>
          </p:cNvSpPr>
          <p:nvPr/>
        </p:nvSpPr>
        <p:spPr>
          <a:xfrm>
            <a:off x="1121000" y="3478805"/>
            <a:ext cx="1353853" cy="63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 및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구현 </a:t>
            </a:r>
            <a: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(2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</a:t>
            </a:r>
            <a: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Google Shape;272;p31"/>
          <p:cNvSpPr txBox="1">
            <a:spLocks noGrp="1"/>
          </p:cNvSpPr>
          <p:nvPr>
            <p:ph type="title" idx="5"/>
          </p:nvPr>
        </p:nvSpPr>
        <p:spPr>
          <a:xfrm>
            <a:off x="3772800" y="297486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05</a:t>
            </a:r>
            <a:endParaRPr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Google Shape;275;p31"/>
          <p:cNvSpPr txBox="1">
            <a:spLocks/>
          </p:cNvSpPr>
          <p:nvPr/>
        </p:nvSpPr>
        <p:spPr>
          <a:xfrm>
            <a:off x="3899179" y="3478805"/>
            <a:ext cx="1282029" cy="63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 및 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구현 </a:t>
            </a:r>
            <a: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(2.5</a:t>
            </a:r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</a:t>
            </a:r>
            <a:r>
              <a:rPr lang="en-US" altLang="ko-KR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sp>
        <p:nvSpPr>
          <p:cNvPr id="21" name="Google Shape;272;p31"/>
          <p:cNvSpPr txBox="1">
            <a:spLocks noGrp="1"/>
          </p:cNvSpPr>
          <p:nvPr>
            <p:ph type="title" idx="5"/>
          </p:nvPr>
        </p:nvSpPr>
        <p:spPr>
          <a:xfrm>
            <a:off x="6547141" y="293415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06</a:t>
            </a:r>
            <a:endParaRPr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0" name="Google Shape;275;p31"/>
          <p:cNvSpPr txBox="1">
            <a:spLocks/>
          </p:cNvSpPr>
          <p:nvPr/>
        </p:nvSpPr>
        <p:spPr>
          <a:xfrm>
            <a:off x="6676280" y="3438096"/>
            <a:ext cx="1282029" cy="63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결론 및 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/>
            <a:r>
              <a:rPr lang="ko-KR" altLang="en-US" sz="15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시사점</a:t>
            </a:r>
            <a:endParaRPr lang="en-US" altLang="ko-KR" sz="1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825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ko-KR" alt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문제의식과 해결방향성</a:t>
            </a:r>
            <a:endParaRPr lang="en-US" altLang="ko-KR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</a:t>
            </a:r>
            <a:r>
              <a:rPr lang="en-US" sz="5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endParaRPr sz="5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3583" t="3787" r="6805"/>
          <a:stretch/>
        </p:blipFill>
        <p:spPr>
          <a:xfrm>
            <a:off x="1375226" y="130629"/>
            <a:ext cx="2467429" cy="4920295"/>
          </a:xfrm>
          <a:prstGeom prst="rect">
            <a:avLst/>
          </a:prstGeom>
        </p:spPr>
      </p:pic>
      <p:sp>
        <p:nvSpPr>
          <p:cNvPr id="7" name="모서리가 둥근 사각형 설명선 6"/>
          <p:cNvSpPr/>
          <p:nvPr/>
        </p:nvSpPr>
        <p:spPr>
          <a:xfrm>
            <a:off x="1654627" y="1458684"/>
            <a:ext cx="1908629" cy="653143"/>
          </a:xfrm>
          <a:prstGeom prst="wedgeRoundRectCallout">
            <a:avLst>
              <a:gd name="adj1" fmla="val -47446"/>
              <a:gd name="adj2" fmla="val 70437"/>
              <a:gd name="adj3" fmla="val 16667"/>
            </a:avLst>
          </a:prstGeom>
          <a:solidFill>
            <a:schemeClr val="accent4">
              <a:lumMod val="85000"/>
            </a:schemeClr>
          </a:solidFill>
          <a:ln>
            <a:solidFill>
              <a:schemeClr val="accent4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모서리가 둥근 사각형 설명선 7"/>
          <p:cNvSpPr/>
          <p:nvPr/>
        </p:nvSpPr>
        <p:spPr>
          <a:xfrm>
            <a:off x="1654627" y="2307773"/>
            <a:ext cx="1908629" cy="841827"/>
          </a:xfrm>
          <a:prstGeom prst="wedgeRoundRectCallout">
            <a:avLst>
              <a:gd name="adj1" fmla="val -47446"/>
              <a:gd name="adj2" fmla="val 70437"/>
              <a:gd name="adj3" fmla="val 16667"/>
            </a:avLst>
          </a:prstGeom>
          <a:solidFill>
            <a:schemeClr val="accent4">
              <a:lumMod val="85000"/>
            </a:schemeClr>
          </a:solidFill>
          <a:ln>
            <a:solidFill>
              <a:schemeClr val="accent4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1654627" y="3396341"/>
            <a:ext cx="1908629" cy="653143"/>
          </a:xfrm>
          <a:prstGeom prst="wedgeRoundRectCallout">
            <a:avLst>
              <a:gd name="adj1" fmla="val -47446"/>
              <a:gd name="adj2" fmla="val 70437"/>
              <a:gd name="adj3" fmla="val 16667"/>
            </a:avLst>
          </a:prstGeom>
          <a:solidFill>
            <a:schemeClr val="accent4">
              <a:lumMod val="85000"/>
            </a:schemeClr>
          </a:solidFill>
          <a:ln>
            <a:solidFill>
              <a:schemeClr val="accent4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900" dirty="0" err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국제발신</a:t>
            </a:r>
            <a:r>
              <a:rPr lang="en-US" altLang="ko-KR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] </a:t>
            </a:r>
            <a:r>
              <a:rPr lang="ko-KR" altLang="en-US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심심하네요 저녁에 </a:t>
            </a:r>
            <a:r>
              <a:rPr lang="ko-KR" altLang="en-US" sz="900" dirty="0" err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영통해주실</a:t>
            </a:r>
            <a:r>
              <a:rPr lang="ko-KR" altLang="en-US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 수 있나요</a:t>
            </a:r>
            <a:r>
              <a:rPr lang="en-US" altLang="ko-KR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? </a:t>
            </a:r>
            <a:r>
              <a:rPr lang="ko-KR" altLang="en-US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옷을 입지 마세요</a:t>
            </a:r>
            <a:r>
              <a:rPr lang="en-US" altLang="ko-KR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. ..+ line</a:t>
            </a:r>
            <a:r>
              <a:rPr lang="ko-KR" altLang="en-US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ko-KR" sz="900" dirty="0" err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cf</a:t>
            </a:r>
            <a:r>
              <a:rPr lang="en-US" altLang="ko-KR" sz="900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****</a:t>
            </a:r>
            <a:endParaRPr lang="ko-KR" altLang="en-US" sz="900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69140" y="1509483"/>
            <a:ext cx="205377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+mj-ea"/>
                <a:ea typeface="+mj-ea"/>
              </a:rPr>
              <a:t>(광고) BYE 2023 COUPON 안내</a:t>
            </a:r>
          </a:p>
          <a:p>
            <a:r>
              <a:rPr lang="ko-KR" altLang="en-US" sz="900" dirty="0">
                <a:latin typeface="+mj-ea"/>
                <a:ea typeface="+mj-ea"/>
              </a:rPr>
              <a:t>CLUB MEMBERSHIP 15% OFF!</a:t>
            </a:r>
          </a:p>
          <a:p>
            <a:r>
              <a:rPr lang="ko-KR" altLang="en-US" sz="900" dirty="0">
                <a:latin typeface="+mj-ea"/>
                <a:ea typeface="+mj-ea"/>
              </a:rPr>
              <a:t>결제 페이지에서 적용 가능합니다.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61884" y="2358547"/>
            <a:ext cx="200297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+mj-ea"/>
                <a:ea typeface="+mj-ea"/>
              </a:rPr>
              <a:t>[</a:t>
            </a:r>
            <a:r>
              <a:rPr lang="ko-KR" altLang="en-US" sz="900" dirty="0" err="1">
                <a:latin typeface="+mj-ea"/>
                <a:ea typeface="+mj-ea"/>
              </a:rPr>
              <a:t>Web발신</a:t>
            </a:r>
            <a:r>
              <a:rPr lang="en-US" altLang="ko-KR" sz="900" dirty="0">
                <a:latin typeface="+mj-ea"/>
                <a:ea typeface="+mj-ea"/>
              </a:rPr>
              <a:t>] </a:t>
            </a:r>
            <a:r>
              <a:rPr lang="ko-KR" altLang="en-US" sz="900" dirty="0">
                <a:latin typeface="+mj-ea"/>
                <a:ea typeface="+mj-ea"/>
              </a:rPr>
              <a:t>꿈꿔왔던 그 이상의 웨딩. </a:t>
            </a:r>
            <a:r>
              <a:rPr lang="ko-KR" altLang="en-US" sz="900" dirty="0" err="1">
                <a:latin typeface="+mj-ea"/>
                <a:ea typeface="+mj-ea"/>
              </a:rPr>
              <a:t>노블발렌티</a:t>
            </a:r>
            <a:r>
              <a:rPr lang="ko-KR" altLang="en-US" sz="900" dirty="0">
                <a:latin typeface="+mj-ea"/>
                <a:ea typeface="+mj-ea"/>
              </a:rPr>
              <a:t> </a:t>
            </a:r>
            <a:r>
              <a:rPr lang="ko-KR" altLang="en-US" sz="900" dirty="0" err="1">
                <a:latin typeface="+mj-ea"/>
                <a:ea typeface="+mj-ea"/>
              </a:rPr>
              <a:t>삼성점의</a:t>
            </a:r>
            <a:r>
              <a:rPr lang="ko-KR" altLang="en-US" sz="900" dirty="0">
                <a:latin typeface="+mj-ea"/>
                <a:ea typeface="+mj-ea"/>
              </a:rPr>
              <a:t> **월 리베이트 프로모션 </a:t>
            </a:r>
            <a:r>
              <a:rPr lang="ko-KR" altLang="en-US" sz="900" dirty="0" err="1">
                <a:latin typeface="+mj-ea"/>
                <a:ea typeface="+mj-ea"/>
              </a:rPr>
              <a:t>안내드립니다</a:t>
            </a:r>
            <a:r>
              <a:rPr lang="ko-KR" altLang="en-US" sz="900" dirty="0">
                <a:latin typeface="+mj-ea"/>
                <a:ea typeface="+mj-ea"/>
              </a:rPr>
              <a:t> ****년 *,*,*월 일요일 예식 </a:t>
            </a:r>
            <a:r>
              <a:rPr lang="ko-KR" altLang="en-US" sz="900" dirty="0" err="1">
                <a:latin typeface="+mj-ea"/>
                <a:ea typeface="+mj-ea"/>
              </a:rPr>
              <a:t>계약시</a:t>
            </a:r>
            <a:r>
              <a:rPr lang="ko-KR" altLang="en-US" sz="900" dirty="0">
                <a:latin typeface="+mj-ea"/>
                <a:ea typeface="+mj-ea"/>
              </a:rPr>
              <a:t>, 기존 리베이트 + **만원 추가 증정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834438" y="1509483"/>
            <a:ext cx="3547562" cy="212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•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지속적인 </a:t>
            </a:r>
            <a:r>
              <a:rPr lang="ko-KR" altLang="en-US" sz="1200" dirty="0">
                <a:solidFill>
                  <a:srgbClr val="545E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피로감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유발</a:t>
            </a: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•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심각한 사회적 문제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1200" dirty="0" err="1">
                <a:solidFill>
                  <a:srgbClr val="545E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스미싱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같은 문자 사기 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기법으로 인한 개인 정보 유출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금전적 피해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• </a:t>
            </a:r>
            <a:r>
              <a:rPr lang="ko-KR" altLang="en-US" sz="1200" dirty="0">
                <a:solidFill>
                  <a:srgbClr val="545E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 차단 단어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설정으로 중요한 문자 메시지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놓치 경험 있음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           </a:t>
            </a: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정교하고 유연한 스팸 탐지 시스템 필요성 체감</a:t>
            </a:r>
          </a:p>
        </p:txBody>
      </p:sp>
      <p:sp>
        <p:nvSpPr>
          <p:cNvPr id="14" name="오른쪽 화살표 13"/>
          <p:cNvSpPr/>
          <p:nvPr/>
        </p:nvSpPr>
        <p:spPr>
          <a:xfrm>
            <a:off x="4334904" y="3373043"/>
            <a:ext cx="486228" cy="188686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Google Shape;371;p37">
            <a:extLst>
              <a:ext uri="{FF2B5EF4-FFF2-40B4-BE49-F238E27FC236}">
                <a16:creationId xmlns:a16="http://schemas.microsoft.com/office/drawing/2014/main" id="{0EB832C0-59FC-3D4F-2A7D-15F37C701342}"/>
              </a:ext>
            </a:extLst>
          </p:cNvPr>
          <p:cNvSpPr txBox="1">
            <a:spLocks/>
          </p:cNvSpPr>
          <p:nvPr/>
        </p:nvSpPr>
        <p:spPr>
          <a:xfrm>
            <a:off x="5301347" y="546813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문제의식</a:t>
            </a:r>
            <a:endParaRPr 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7" name="Google Shape;378;p37">
            <a:extLst>
              <a:ext uri="{FF2B5EF4-FFF2-40B4-BE49-F238E27FC236}">
                <a16:creationId xmlns:a16="http://schemas.microsoft.com/office/drawing/2014/main" id="{5CAA0F67-3C8B-B6C5-95B2-819523063F83}"/>
              </a:ext>
            </a:extLst>
          </p:cNvPr>
          <p:cNvGrpSpPr/>
          <p:nvPr/>
        </p:nvGrpSpPr>
        <p:grpSpPr>
          <a:xfrm>
            <a:off x="4897156" y="601757"/>
            <a:ext cx="329194" cy="329202"/>
            <a:chOff x="3282325" y="2035675"/>
            <a:chExt cx="459575" cy="454825"/>
          </a:xfrm>
        </p:grpSpPr>
        <p:sp>
          <p:nvSpPr>
            <p:cNvPr id="18" name="Google Shape;379;p37">
              <a:extLst>
                <a:ext uri="{FF2B5EF4-FFF2-40B4-BE49-F238E27FC236}">
                  <a16:creationId xmlns:a16="http://schemas.microsoft.com/office/drawing/2014/main" id="{421443CB-0111-D3B8-1DBB-37F34AE63465}"/>
                </a:ext>
              </a:extLst>
            </p:cNvPr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" name="Google Shape;380;p37">
              <a:extLst>
                <a:ext uri="{FF2B5EF4-FFF2-40B4-BE49-F238E27FC236}">
                  <a16:creationId xmlns:a16="http://schemas.microsoft.com/office/drawing/2014/main" id="{598BDDCB-41E0-6E87-E210-5F8945FEF520}"/>
                </a:ext>
              </a:extLst>
            </p:cNvPr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381;p37">
              <a:extLst>
                <a:ext uri="{FF2B5EF4-FFF2-40B4-BE49-F238E27FC236}">
                  <a16:creationId xmlns:a16="http://schemas.microsoft.com/office/drawing/2014/main" id="{67BA2A77-4EDC-2FEC-547B-3FBFCD16C1BB}"/>
                </a:ext>
              </a:extLst>
            </p:cNvPr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382;p37">
              <a:extLst>
                <a:ext uri="{FF2B5EF4-FFF2-40B4-BE49-F238E27FC236}">
                  <a16:creationId xmlns:a16="http://schemas.microsoft.com/office/drawing/2014/main" id="{AF8DA12F-A942-E6AD-63B3-E93A76919B81}"/>
                </a:ext>
              </a:extLst>
            </p:cNvPr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632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CCABE104-6A1B-2043-54C7-62E4F4799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45" y="790197"/>
            <a:ext cx="2688246" cy="4189183"/>
          </a:xfrm>
          <a:prstGeom prst="rect">
            <a:avLst/>
          </a:prstGeom>
        </p:spPr>
      </p:pic>
      <p:sp>
        <p:nvSpPr>
          <p:cNvPr id="2" name="Google Shape;371;p37"/>
          <p:cNvSpPr txBox="1">
            <a:spLocks/>
          </p:cNvSpPr>
          <p:nvPr/>
        </p:nvSpPr>
        <p:spPr>
          <a:xfrm>
            <a:off x="836575" y="372270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해결방향</a:t>
            </a:r>
            <a:endParaRPr 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3" name="Google Shape;378;p37"/>
          <p:cNvGrpSpPr/>
          <p:nvPr/>
        </p:nvGrpSpPr>
        <p:grpSpPr>
          <a:xfrm>
            <a:off x="432384" y="427214"/>
            <a:ext cx="329194" cy="329202"/>
            <a:chOff x="3282325" y="2035675"/>
            <a:chExt cx="459575" cy="454825"/>
          </a:xfrm>
        </p:grpSpPr>
        <p:sp>
          <p:nvSpPr>
            <p:cNvPr id="4" name="Google Shape;379;p37"/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" name="Google Shape;380;p37"/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381;p37"/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382;p37"/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200650" y="718950"/>
            <a:ext cx="2991289" cy="12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3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스팸문자</a:t>
            </a:r>
            <a:r>
              <a:rPr lang="ko-KR" altLang="en-US" sz="13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발신자들은 기존의 단순한 키워드 </a:t>
            </a:r>
            <a:r>
              <a:rPr lang="ko-KR" altLang="en-US" sz="13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필터링이나</a:t>
            </a:r>
            <a:endParaRPr lang="en-US" altLang="ko-KR" sz="13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3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텍스트 분석 시스템을 회피하기 위해 다양한 방법을 사용</a:t>
            </a:r>
            <a:endParaRPr lang="en-US" altLang="ko-KR" sz="13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아래쪽 화살표 17"/>
          <p:cNvSpPr/>
          <p:nvPr/>
        </p:nvSpPr>
        <p:spPr>
          <a:xfrm>
            <a:off x="6224980" y="2285705"/>
            <a:ext cx="882506" cy="628484"/>
          </a:xfrm>
          <a:prstGeom prst="downArrow">
            <a:avLst>
              <a:gd name="adj1" fmla="val 35542"/>
              <a:gd name="adj2" fmla="val 42002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4572000" y="3226946"/>
            <a:ext cx="1857448" cy="1535554"/>
          </a:xfrm>
          <a:prstGeom prst="roundRect">
            <a:avLst>
              <a:gd name="adj" fmla="val 15080"/>
            </a:avLst>
          </a:prstGeom>
          <a:solidFill>
            <a:schemeClr val="accent6">
              <a:lumMod val="95000"/>
            </a:schemeClr>
          </a:solidFill>
          <a:ln>
            <a:solidFill>
              <a:schemeClr val="accent6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자연어 처리</a:t>
            </a:r>
            <a:endParaRPr lang="en-US" altLang="ko-KR" dirty="0">
              <a:solidFill>
                <a:schemeClr val="tx1">
                  <a:lumMod val="60000"/>
                  <a:lumOff val="4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endParaRPr lang="en-US" altLang="ko-KR" sz="1200" dirty="0">
              <a:solidFill>
                <a:schemeClr val="tx1">
                  <a:lumMod val="60000"/>
                  <a:lumOff val="4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LSTM</a:t>
            </a:r>
            <a:r>
              <a:rPr lang="ko-KR" altLang="en-US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이나 </a:t>
            </a:r>
            <a:r>
              <a:rPr lang="en-US" altLang="ko-K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Transformer</a:t>
            </a:r>
            <a:r>
              <a:rPr lang="ko-KR" altLang="en-US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계열 모델을 활용하여 문자 메시지 내의 의미적 특성 파악</a:t>
            </a:r>
          </a:p>
        </p:txBody>
      </p:sp>
      <p:sp>
        <p:nvSpPr>
          <p:cNvPr id="33" name="모서리가 둥근 직사각형 32"/>
          <p:cNvSpPr/>
          <p:nvPr/>
        </p:nvSpPr>
        <p:spPr>
          <a:xfrm>
            <a:off x="6823294" y="3226946"/>
            <a:ext cx="1869616" cy="1535554"/>
          </a:xfrm>
          <a:prstGeom prst="roundRect">
            <a:avLst>
              <a:gd name="adj" fmla="val 15080"/>
            </a:avLst>
          </a:prstGeom>
          <a:solidFill>
            <a:schemeClr val="accent6">
              <a:lumMod val="95000"/>
            </a:schemeClr>
          </a:solidFill>
          <a:ln>
            <a:solidFill>
              <a:schemeClr val="accent6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>
                  <a:lumMod val="60000"/>
                  <a:lumOff val="4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이미지 데이터 처리</a:t>
            </a:r>
            <a:endParaRPr lang="en-US" altLang="ko-KR" dirty="0">
              <a:solidFill>
                <a:schemeClr val="tx1">
                  <a:lumMod val="60000"/>
                  <a:lumOff val="4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endParaRPr lang="en-US" altLang="ko-KR" dirty="0">
              <a:solidFill>
                <a:schemeClr val="tx1">
                  <a:lumMod val="60000"/>
                  <a:lumOff val="4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CNN</a:t>
            </a:r>
            <a:r>
              <a:rPr lang="en-US" altLang="ko-KR" sz="1200" dirty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기반 이미지 인식 또는 </a:t>
            </a:r>
            <a:endParaRPr lang="en-US" altLang="ko-KR" sz="1200" dirty="0">
              <a:solidFill>
                <a:srgbClr val="0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YOLO</a:t>
            </a:r>
            <a:r>
              <a:rPr lang="en-US" altLang="ko-KR" sz="1200" dirty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적용</a:t>
            </a:r>
            <a:endParaRPr lang="en-US" altLang="ko-KR" dirty="0">
              <a:solidFill>
                <a:schemeClr val="tx1">
                  <a:lumMod val="60000"/>
                  <a:lumOff val="4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endParaRPr lang="en-US" altLang="ko-KR" dirty="0">
              <a:solidFill>
                <a:schemeClr val="tx1">
                  <a:lumMod val="60000"/>
                  <a:lumOff val="4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84DA187-1158-90F0-514B-C063B4C1F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61" y="790197"/>
            <a:ext cx="2599415" cy="41374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6BFE4F-1A0F-36D5-8912-B03B33160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61" y="790198"/>
            <a:ext cx="2908527" cy="405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1;p37"/>
          <p:cNvSpPr txBox="1">
            <a:spLocks/>
          </p:cNvSpPr>
          <p:nvPr/>
        </p:nvSpPr>
        <p:spPr>
          <a:xfrm>
            <a:off x="836575" y="372270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기대효과</a:t>
            </a:r>
            <a:endParaRPr 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3" name="Google Shape;378;p37"/>
          <p:cNvGrpSpPr/>
          <p:nvPr/>
        </p:nvGrpSpPr>
        <p:grpSpPr>
          <a:xfrm>
            <a:off x="432384" y="427214"/>
            <a:ext cx="329194" cy="329202"/>
            <a:chOff x="3282325" y="2035675"/>
            <a:chExt cx="459575" cy="454825"/>
          </a:xfrm>
        </p:grpSpPr>
        <p:sp>
          <p:nvSpPr>
            <p:cNvPr id="4" name="Google Shape;379;p37"/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" name="Google Shape;380;p37"/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381;p37"/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382;p37"/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761578" y="1212946"/>
            <a:ext cx="4572000" cy="320857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2131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사용자와 사회에 긍정적이고 실질적인 영향을 미칠 수  있는 시스템을 구축하는 것을 목표로 함</a:t>
            </a:r>
            <a:endParaRPr lang="en-US" altLang="ko-KR" sz="1200" dirty="0">
              <a:solidFill>
                <a:srgbClr val="121315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 보안 강화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정교화된 스팸 탐지 기법으로 고도화된 </a:t>
            </a:r>
            <a:r>
              <a:rPr lang="ko-KR" altLang="en-US" sz="1100" dirty="0" err="1">
                <a:solidFill>
                  <a:schemeClr val="bg2">
                    <a:lumMod val="1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스팸문자를</a:t>
            </a:r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en-US" altLang="ko-KR" sz="1100" dirty="0">
              <a:solidFill>
                <a:schemeClr val="bg2">
                  <a:lumMod val="1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효과적으로 차단</a:t>
            </a:r>
            <a:endParaRPr lang="en-US" altLang="ko-KR" sz="1100" dirty="0">
              <a:solidFill>
                <a:schemeClr val="bg2">
                  <a:lumMod val="1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1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사회적 비용 절감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금융사기</a:t>
            </a:r>
            <a:r>
              <a:rPr lang="en-US" altLang="ko-KR" sz="1100" dirty="0">
                <a:solidFill>
                  <a:schemeClr val="bg2">
                    <a:lumMod val="1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범죄 예방 등으로 인한 사회적 비용</a:t>
            </a:r>
            <a:endParaRPr lang="en-US" altLang="ko-KR" sz="1100" dirty="0">
              <a:solidFill>
                <a:schemeClr val="bg2">
                  <a:lumMod val="1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1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사회적 신뢰 증대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24116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디지털 신뢰 환경 구축</a:t>
            </a:r>
            <a:r>
              <a:rPr lang="en-US" altLang="ko-KR" sz="1100" dirty="0">
                <a:solidFill>
                  <a:srgbClr val="24116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100" dirty="0">
                <a:solidFill>
                  <a:srgbClr val="24116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신뢰 기반 거래 활성화</a:t>
            </a:r>
            <a:endParaRPr lang="en-US" altLang="ko-KR" sz="1100" dirty="0">
              <a:solidFill>
                <a:srgbClr val="24116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4331" r="88386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74752" y="2494066"/>
            <a:ext cx="3871295" cy="1920406"/>
          </a:xfrm>
          <a:prstGeom prst="rect">
            <a:avLst/>
          </a:prstGeom>
        </p:spPr>
      </p:pic>
      <p:sp>
        <p:nvSpPr>
          <p:cNvPr id="21" name="Google Shape;349;p36"/>
          <p:cNvSpPr/>
          <p:nvPr/>
        </p:nvSpPr>
        <p:spPr>
          <a:xfrm>
            <a:off x="546306" y="2156004"/>
            <a:ext cx="215272" cy="197336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22" name="Google Shape;338;p36"/>
          <p:cNvGrpSpPr/>
          <p:nvPr/>
        </p:nvGrpSpPr>
        <p:grpSpPr>
          <a:xfrm>
            <a:off x="530755" y="3133183"/>
            <a:ext cx="230823" cy="212831"/>
            <a:chOff x="5648375" y="238125"/>
            <a:chExt cx="483125" cy="499317"/>
          </a:xfrm>
        </p:grpSpPr>
        <p:sp>
          <p:nvSpPr>
            <p:cNvPr id="23" name="Google Shape;339;p36"/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340;p36"/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341;p36"/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342;p36"/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" name="Google Shape;343;p36"/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" name="Google Shape;344;p36"/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345;p36"/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346;p36"/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347;p36"/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348;p36"/>
            <p:cNvSpPr/>
            <p:nvPr/>
          </p:nvSpPr>
          <p:spPr>
            <a:xfrm>
              <a:off x="5989026" y="709116"/>
              <a:ext cx="84875" cy="28326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3" name="Google Shape;350;p36"/>
          <p:cNvGrpSpPr/>
          <p:nvPr/>
        </p:nvGrpSpPr>
        <p:grpSpPr>
          <a:xfrm>
            <a:off x="523988" y="3907560"/>
            <a:ext cx="238424" cy="253923"/>
            <a:chOff x="-31889075" y="2658950"/>
            <a:chExt cx="302475" cy="290775"/>
          </a:xfrm>
        </p:grpSpPr>
        <p:sp>
          <p:nvSpPr>
            <p:cNvPr id="34" name="Google Shape;351;p36"/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2;p36"/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9487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9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sz="5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459383"/>
            <a:ext cx="4383600" cy="825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수집 및 정제</a:t>
            </a:r>
            <a:endParaRPr sz="2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9152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1;p37"/>
          <p:cNvSpPr txBox="1">
            <a:spLocks/>
          </p:cNvSpPr>
          <p:nvPr/>
        </p:nvSpPr>
        <p:spPr>
          <a:xfrm>
            <a:off x="836575" y="372270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수집</a:t>
            </a:r>
            <a:endParaRPr 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5" name="Google Shape;378;p37"/>
          <p:cNvGrpSpPr/>
          <p:nvPr/>
        </p:nvGrpSpPr>
        <p:grpSpPr>
          <a:xfrm>
            <a:off x="432384" y="427214"/>
            <a:ext cx="329194" cy="329202"/>
            <a:chOff x="3282325" y="2035675"/>
            <a:chExt cx="459575" cy="454825"/>
          </a:xfrm>
        </p:grpSpPr>
        <p:sp>
          <p:nvSpPr>
            <p:cNvPr id="6" name="Google Shape;379;p37"/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380;p37"/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381;p37"/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382;p37"/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22969" y="1417675"/>
            <a:ext cx="5695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조원들의 일반 문자 및 스팸 데이터 직접 </a:t>
            </a:r>
            <a:r>
              <a:rPr lang="ko-KR" altLang="en-US" sz="1200" dirty="0">
                <a:solidFill>
                  <a:schemeClr val="tx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수집 및 생성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53385" y="2189738"/>
            <a:ext cx="174927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KT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통신 빅데이터 플랫폼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6131" y="1864332"/>
            <a:ext cx="5695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KT </a:t>
            </a:r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통신 빅데이터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플랫폼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_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휴대전화 스팸트랩 문자 수집 내역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56" y="2483436"/>
            <a:ext cx="7031220" cy="11021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4506" y="3650198"/>
            <a:ext cx="5695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</a:t>
            </a:r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스마트 치안 빅데이터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플랫폼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_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 문자 데이터셋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132763" y="4245266"/>
            <a:ext cx="80660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-&gt;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일반/스팸 문자 구분 + 스팸 문자 세부 분류 +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일반문자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확보를 위해 추가 생성</a:t>
            </a:r>
          </a:p>
        </p:txBody>
      </p:sp>
    </p:spTree>
    <p:extLst>
      <p:ext uri="{BB962C8B-B14F-4D97-AF65-F5344CB8AC3E}">
        <p14:creationId xmlns:p14="http://schemas.microsoft.com/office/powerpoint/2010/main" val="553111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9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sz="5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459383"/>
            <a:ext cx="4383600" cy="825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 및 구현 </a:t>
            </a:r>
            <a:b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</a:t>
            </a:r>
            <a:r>
              <a:rPr lang="ko-KR" altLang="en-US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</a:t>
            </a:r>
            <a: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sz="2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67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4172" y="253994"/>
            <a:ext cx="2489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6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확인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87828" y="807400"/>
            <a:ext cx="48114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데이터셋을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200" dirty="0" err="1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문자내용</a:t>
            </a:r>
            <a:r>
              <a:rPr lang="en-US" altLang="ko-KR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 여부</a:t>
            </a:r>
            <a:r>
              <a:rPr lang="en-US" altLang="ko-KR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 종류</a:t>
            </a:r>
            <a:r>
              <a:rPr lang="en-US" altLang="ko-KR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생성 여부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구성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 종류 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광고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주식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투자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도박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선거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정치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성인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대출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금융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대리운전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기타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스팸이 아닐 경우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type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 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97" y="1941971"/>
            <a:ext cx="3338887" cy="282094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715" y="1892735"/>
            <a:ext cx="4680000" cy="22141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411" y="1865995"/>
            <a:ext cx="4623928" cy="2214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375" y="1907401"/>
            <a:ext cx="4680000" cy="21847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9411" y="1944165"/>
            <a:ext cx="4874862" cy="2214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9410" y="1953497"/>
            <a:ext cx="4847335" cy="231027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1991" y="1934141"/>
            <a:ext cx="4944754" cy="257712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3339" y="2014538"/>
            <a:ext cx="4903406" cy="239913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4041" y="2007812"/>
            <a:ext cx="5042704" cy="250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7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198" y="73366"/>
            <a:ext cx="4078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074357" y="1297901"/>
            <a:ext cx="4400776" cy="642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KoNLPy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활용하여 한글 형태소 단위로 문자 내용 토큰화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4" y="823863"/>
            <a:ext cx="3581710" cy="1577477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95120" y="3250904"/>
            <a:ext cx="854169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[['[', '</a:t>
            </a:r>
            <a:r>
              <a:rPr lang="ko-KR" altLang="en-US" sz="11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신한은행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',',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내부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통지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']',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님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신한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쏠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'(', 'SOL', ')',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가입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완료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되었습니다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'.'], </a:t>
            </a: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['[', '</a:t>
            </a:r>
            <a:r>
              <a:rPr lang="ko-KR" altLang="en-US" sz="11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신한은행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',',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사고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예방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']',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님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간편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이체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'(',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')',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등록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되었습니다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'!'], </a:t>
            </a: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헤어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살롱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'\n',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님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'\n', '01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'16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'\n', '14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'00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분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'\n',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되었습니다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'.',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감사합니다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'.'], </a:t>
            </a: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님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통합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임시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비밀번호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는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en-US" altLang="ko-KR" sz="11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db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'^', '46822',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입니다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'.',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웨이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동일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적용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'.',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진학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공통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원서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'], </a:t>
            </a: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['</a:t>
            </a:r>
            <a:r>
              <a: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어디</a:t>
            </a:r>
            <a:r>
              <a: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']]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66" y="2878444"/>
            <a:ext cx="1486029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9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198" y="73366"/>
            <a:ext cx="4078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r="271" b="44978"/>
          <a:stretch/>
        </p:blipFill>
        <p:spPr>
          <a:xfrm>
            <a:off x="167821" y="535031"/>
            <a:ext cx="4582773" cy="1765257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763078" y="1694231"/>
            <a:ext cx="4292011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Tokenizer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단어 사전 구축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769644" y="2616006"/>
            <a:ext cx="4292011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형태소로 분리된 문장 리스트를 시퀀스로 변환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	Ex) [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무료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쿠폰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]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[1, 2, 3]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776788" y="3720008"/>
            <a:ext cx="4292011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최장 문장 길이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(1605)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기준으로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padding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적용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l="-1" t="58510" r="-143" b="32806"/>
          <a:stretch/>
        </p:blipFill>
        <p:spPr>
          <a:xfrm>
            <a:off x="174965" y="2692492"/>
            <a:ext cx="4601823" cy="27860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rcRect l="-1" t="71202" r="479"/>
          <a:stretch/>
        </p:blipFill>
        <p:spPr>
          <a:xfrm>
            <a:off x="139596" y="3650049"/>
            <a:ext cx="4573248" cy="92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01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9223" y="360473"/>
            <a:ext cx="4078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</a:t>
            </a:r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3" y="1154811"/>
            <a:ext cx="2385267" cy="39627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348615" y="1154811"/>
            <a:ext cx="42920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x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는 모델의 입력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y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는 모델의 정답으로 설정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ko-KR" altLang="en-US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742951" y="1352948"/>
            <a:ext cx="4292011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Ex)  x = array([[ 1,  2,  3,  0,  0],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          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	 [ 4,  5,  6,  7,  0],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          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	[ 8,  9,  0,  0,  0]])</a:t>
            </a:r>
          </a:p>
          <a:p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y = array([1, 0, 1, 0, ...])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r="16793" b="90051"/>
          <a:stretch/>
        </p:blipFill>
        <p:spPr>
          <a:xfrm>
            <a:off x="629023" y="3216556"/>
            <a:ext cx="4743078" cy="29831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5494620" y="3216765"/>
            <a:ext cx="42920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전체 데이터의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20%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</a:t>
            </a:r>
            <a:r>
              <a:rPr lang="ko-KR" altLang="en-US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테스트용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으로 분할</a:t>
            </a: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693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6367" y="374663"/>
            <a:ext cx="4078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</a:t>
            </a:r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129213" y="1162781"/>
            <a:ext cx="55239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모델이 소수의 클래스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일반 문자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 더 집중할 수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있도록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</a:p>
          <a:p>
            <a:r>
              <a:rPr lang="en-US" altLang="ko-KR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class_weights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활용해 불균형을 고려한 가중치 자동 계산</a:t>
            </a: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064920" y="3006033"/>
            <a:ext cx="429201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LSTM(128): 128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개의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유닛을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사용하여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문장의 순서 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정보를 기억하며 맥락 이해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Dropout(0.5):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학습 시 임의로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50%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뉴런을 꺼서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과적합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방지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개의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노드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sigmoid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활성화 → 출력이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0~1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사이 확률로 나오도록 하여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0: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일반문자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1: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스팸문자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이진분류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2" y="948583"/>
            <a:ext cx="4913098" cy="150003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22" y="3134415"/>
            <a:ext cx="4893160" cy="91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5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740" y="289243"/>
            <a:ext cx="26706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4. </a:t>
            </a:r>
            <a:r>
              <a:rPr lang="ko-KR" altLang="en-US" sz="26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생성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3" y="982218"/>
            <a:ext cx="5922510" cy="308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23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740" y="289243"/>
            <a:ext cx="26706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5. </a:t>
            </a:r>
            <a:r>
              <a:rPr lang="ko-KR" altLang="en-US" sz="26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학습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45" y="898538"/>
            <a:ext cx="8740897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97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740" y="289243"/>
            <a:ext cx="26706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6. 1</a:t>
            </a:r>
            <a:r>
              <a:rPr lang="ko-KR" altLang="en-US" sz="26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 모델 결과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15" y="1057713"/>
            <a:ext cx="6462320" cy="8992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15" y="2152047"/>
            <a:ext cx="4031187" cy="247177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807746" y="2684399"/>
            <a:ext cx="39290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테스트 정확도가 약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70%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모델이 비교적 잘 학습된 것으로 보였으나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</a:p>
          <a:p>
            <a:b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실제로는 </a:t>
            </a:r>
            <a:r>
              <a:rPr lang="ko-KR" altLang="en-US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정상 메시지를 전혀 예측하지 못하는 문제 발생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516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84026" y="1913489"/>
            <a:ext cx="3724941" cy="786938"/>
          </a:xfrm>
          <a:prstGeom prst="rect">
            <a:avLst/>
          </a:prstGeom>
          <a:solidFill>
            <a:schemeClr val="accent4">
              <a:lumMod val="95000"/>
            </a:schemeClr>
          </a:solidFill>
          <a:ln>
            <a:solidFill>
              <a:schemeClr val="accent4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97192" y="1431450"/>
            <a:ext cx="4859080" cy="115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 latinLnBrk="1">
              <a:lnSpc>
                <a:spcPct val="160000"/>
              </a:lnSpc>
              <a:buAutoNum type="arabicPeriod"/>
            </a:pPr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불균형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en-US" altLang="ko-KR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Spam:Ham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= 3012:1260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≈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7:3)</a:t>
            </a:r>
          </a:p>
          <a:p>
            <a:pPr algn="just" fontAlgn="base" latinLnBrk="1">
              <a:lnSpc>
                <a:spcPct val="160000"/>
              </a:lnSpc>
            </a:pPr>
            <a:endParaRPr lang="ko-KR" altLang="en-US" sz="5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 문자 비율이 약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70%,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정상 문자가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30%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불균형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→ 모델이 모든 문자를 스팸으로 예측</a:t>
            </a:r>
          </a:p>
        </p:txBody>
      </p:sp>
      <p:pic>
        <p:nvPicPr>
          <p:cNvPr id="1029" name="_x317854792" descr="EMB000010282f4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" t="1268" r="2439" b="1299"/>
          <a:stretch/>
        </p:blipFill>
        <p:spPr bwMode="auto">
          <a:xfrm>
            <a:off x="5122020" y="522611"/>
            <a:ext cx="3070294" cy="278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_x318713672" descr="EMB000010282f4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736" y="3377012"/>
            <a:ext cx="3026578" cy="135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670893" y="2944037"/>
            <a:ext cx="4292011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학습용 데이터셋에서 스팸과 정상 문자를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1:1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재구성하여</a:t>
            </a: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모델이 두 클래스를 균등하게 학습할 수 있도록 조정</a:t>
            </a:r>
          </a:p>
        </p:txBody>
      </p:sp>
      <p:sp>
        <p:nvSpPr>
          <p:cNvPr id="7" name="Google Shape;371;p37"/>
          <p:cNvSpPr txBox="1">
            <a:spLocks/>
          </p:cNvSpPr>
          <p:nvPr/>
        </p:nvSpPr>
        <p:spPr>
          <a:xfrm>
            <a:off x="836575" y="372270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문제점 분석 및 개선점</a:t>
            </a:r>
            <a:endParaRPr 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8" name="Google Shape;378;p37"/>
          <p:cNvGrpSpPr/>
          <p:nvPr/>
        </p:nvGrpSpPr>
        <p:grpSpPr>
          <a:xfrm>
            <a:off x="432384" y="427214"/>
            <a:ext cx="329194" cy="329202"/>
            <a:chOff x="3282325" y="2035675"/>
            <a:chExt cx="459575" cy="454825"/>
          </a:xfrm>
        </p:grpSpPr>
        <p:sp>
          <p:nvSpPr>
            <p:cNvPr id="10" name="Google Shape;379;p37"/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380;p37"/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381;p37"/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382;p37"/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0580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6240" y="1532689"/>
            <a:ext cx="4641703" cy="1193942"/>
          </a:xfrm>
          <a:prstGeom prst="rect">
            <a:avLst/>
          </a:prstGeom>
          <a:solidFill>
            <a:schemeClr val="accent4">
              <a:lumMod val="95000"/>
            </a:schemeClr>
          </a:solidFill>
          <a:ln>
            <a:solidFill>
              <a:schemeClr val="accent4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2697" y="984616"/>
            <a:ext cx="4572000" cy="174201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en-US" altLang="ko-KR" dirty="0">
                <a:solidFill>
                  <a:schemeClr val="tx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dirty="0" err="1">
                <a:solidFill>
                  <a:schemeClr val="tx2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언더피팅</a:t>
            </a:r>
            <a:endParaRPr lang="en-US" altLang="ko-KR" dirty="0">
              <a:solidFill>
                <a:schemeClr val="tx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endParaRPr lang="ko-KR" altLang="en-US" sz="500" dirty="0">
              <a:solidFill>
                <a:schemeClr val="tx2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예측값이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0.732~0.800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사이의 극히 좁은 범위에 몰려 있으며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특히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0.732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값에 대부분이 몰려 있음</a:t>
            </a: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즉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예측 확률이 특정 값 하나에 몰려 있는 현상은 모델이 복잡한 패턴을 학습하지 못하고 있음</a:t>
            </a:r>
          </a:p>
        </p:txBody>
      </p:sp>
      <p:pic>
        <p:nvPicPr>
          <p:cNvPr id="6" name="_x318572496" descr="EMB000010282f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143" y="1427627"/>
            <a:ext cx="4012117" cy="247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126240" y="2842330"/>
            <a:ext cx="4572000" cy="9787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Bidirectional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LSTM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도입으로 앞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뒤 문맥을 모두 활용 가능</a:t>
            </a: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Dropout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Early Stopping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으로 학습 안정성과 일반화 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능력 강화</a:t>
            </a:r>
          </a:p>
        </p:txBody>
      </p:sp>
    </p:spTree>
    <p:extLst>
      <p:ext uri="{BB962C8B-B14F-4D97-AF65-F5344CB8AC3E}">
        <p14:creationId xmlns:p14="http://schemas.microsoft.com/office/powerpoint/2010/main" val="3586678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9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459383"/>
            <a:ext cx="4383600" cy="825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 및 구현 </a:t>
            </a:r>
            <a:b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(2</a:t>
            </a:r>
            <a:r>
              <a:rPr lang="ko-KR" altLang="en-US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</a:t>
            </a:r>
            <a: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sz="2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sz="5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9404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198018" y="1600198"/>
            <a:ext cx="7224713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스팸과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일반 문자의 비율을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1:1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맞춰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데이터셋을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균형 있게 조정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40" y="667061"/>
            <a:ext cx="2423370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07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237" y="1525859"/>
            <a:ext cx="7224713" cy="347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해당 조사들이 의미를 파악하는데 관여하지 않는다고 판단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en-US" altLang="ko-KR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stopwords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불용어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지정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981768"/>
            <a:ext cx="8229600" cy="29125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2081057"/>
            <a:ext cx="5091863" cy="2893804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5454944" y="2746761"/>
            <a:ext cx="4292011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• &lt;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한글 형태소 단위 문자 토큰화 및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불용어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제거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</a:t>
            </a: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한글 형태소 단위로 문자 내용 토큰화 후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stopwords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불용어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제거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0478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461962" y="1720893"/>
            <a:ext cx="4292011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•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직접 사전 제작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직접 사전 만들기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 모델은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Tokenizer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통해 사전 제작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24" y="1206543"/>
            <a:ext cx="3797434" cy="266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48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461962" y="1206543"/>
            <a:ext cx="4539163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•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희귀 단어 제거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등장 빈도가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이하인 단어들을 희귀단어라고 할 때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단어 수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28,480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 중 약 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68%</a:t>
            </a:r>
            <a:r>
              <a:rPr lang="ko-KR" altLang="en-US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희귀 단어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하지만 이 희귀 단어들이 차지하는 전체 등장 빈도는 약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4.36%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매우 낮음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따라서 </a:t>
            </a:r>
            <a:r>
              <a:rPr lang="ko-KR" altLang="en-US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정보량이 적고 학습에 방해가 될 수 있는 희귀 단어를 제거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59" y="655149"/>
            <a:ext cx="4164091" cy="301256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0" y="3787835"/>
            <a:ext cx="3109229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12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884058" y="622261"/>
            <a:ext cx="4572000" cy="10618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•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텍스트 정수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인코딩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(text-to-sequence)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단어들을 고유한 정수에 매핑하여 문장을 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정수 시퀀스로 바꾸는 전처리 과정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49" y="2698473"/>
            <a:ext cx="4416741" cy="22310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46" y="535031"/>
            <a:ext cx="3848780" cy="209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29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34" y="599325"/>
            <a:ext cx="3833054" cy="28733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877" y="3739002"/>
            <a:ext cx="3250998" cy="101183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54" y="900528"/>
            <a:ext cx="4381880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65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572000" y="187241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•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문장 길이 이상치 제거 후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padding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입력값으로서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의미 없는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공백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길이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0)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문장은 전처리 단계에서 제거</a:t>
            </a:r>
            <a:endParaRPr lang="en-US" altLang="ko-KR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또한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99%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이상 위치하는 장문 샘플은 전체 분포에서 벗어나는 </a:t>
            </a:r>
            <a:r>
              <a:rPr lang="ko-KR" altLang="en-US" b="1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이상치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간주하여 제거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전처리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53" y="994859"/>
            <a:ext cx="4728442" cy="55311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67" y="1783896"/>
            <a:ext cx="3923744" cy="260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74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1098" b="50614"/>
          <a:stretch/>
        </p:blipFill>
        <p:spPr>
          <a:xfrm>
            <a:off x="275439" y="749344"/>
            <a:ext cx="6003917" cy="19795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74140" y="2943225"/>
            <a:ext cx="63338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b="1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EarlyStopping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en-US" altLang="ko-KR" sz="1200" b="1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val_loss</a:t>
            </a:r>
            <a:r>
              <a:rPr lang="ko-KR" altLang="en-US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더 이상 개선되지 </a:t>
            </a:r>
            <a:r>
              <a:rPr lang="ko-KR" altLang="en-US" sz="1200" b="1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않을때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학습을 조기 종료</a:t>
            </a:r>
            <a:endParaRPr lang="en-US" altLang="ko-KR" sz="12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patience=2,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연속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번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에폭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동안 </a:t>
            </a:r>
            <a:r>
              <a:rPr lang="en-US" altLang="ko-KR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val_loss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개선이 없으면 멈춤</a:t>
            </a:r>
            <a:endParaRPr lang="en-US" altLang="ko-KR" sz="12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restore_best_weights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=True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가장 성능 좋았던 가중치로 복원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0217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-1" t="52772" r="-313"/>
          <a:stretch/>
        </p:blipFill>
        <p:spPr>
          <a:xfrm>
            <a:off x="196856" y="714375"/>
            <a:ext cx="6089643" cy="189309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175" y="2662178"/>
            <a:ext cx="75723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Embedding,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사전내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단어들을 문장 기반으로 학습해서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문장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내에서특정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단어들이 같은 목적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일반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 기여하는지를 통계적으로 파악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Bidirectional LSTM 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양방향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LSTM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으로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단방향이던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LSTM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 개량하여 앞뒤 문맥을 파악할 수 있게 함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맥락을 파악하는 능력 향상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drop-out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과적합을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방지하기 위해 일부 뉴런을 무작위로 비활성화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softmax</a:t>
            </a:r>
            <a:r>
              <a:rPr lang="en-US" altLang="ko-KR" sz="12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다중 분류 모델이기 때문에 </a:t>
            </a:r>
            <a:r>
              <a:rPr lang="ko-KR" altLang="en-US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출력층의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활성화 함수는 </a:t>
            </a:r>
            <a:r>
              <a:rPr lang="en-US" altLang="ko-KR" sz="1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softmax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설정</a:t>
            </a:r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634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생성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0" y="1129157"/>
            <a:ext cx="6041532" cy="231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89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4.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학습 및 결과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24" y="697177"/>
            <a:ext cx="3524083" cy="153881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24" y="2551686"/>
            <a:ext cx="4222419" cy="48440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66" y="3351785"/>
            <a:ext cx="3288522" cy="147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22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108" y="1284020"/>
            <a:ext cx="3482642" cy="3025402"/>
          </a:xfrm>
          <a:prstGeom prst="rect">
            <a:avLst/>
          </a:prstGeom>
        </p:spPr>
      </p:pic>
      <p:grpSp>
        <p:nvGrpSpPr>
          <p:cNvPr id="3" name="Google Shape;338;p36"/>
          <p:cNvGrpSpPr/>
          <p:nvPr/>
        </p:nvGrpSpPr>
        <p:grpSpPr>
          <a:xfrm>
            <a:off x="486479" y="462718"/>
            <a:ext cx="329201" cy="340235"/>
            <a:chOff x="5648375" y="238125"/>
            <a:chExt cx="483125" cy="499317"/>
          </a:xfrm>
        </p:grpSpPr>
        <p:sp>
          <p:nvSpPr>
            <p:cNvPr id="4" name="Google Shape;339;p36"/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" name="Google Shape;340;p36"/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341;p36"/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342;p36"/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343;p36"/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344;p36"/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345;p36"/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346;p36"/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347;p36"/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348;p36"/>
            <p:cNvSpPr/>
            <p:nvPr/>
          </p:nvSpPr>
          <p:spPr>
            <a:xfrm>
              <a:off x="5989026" y="709116"/>
              <a:ext cx="84875" cy="28326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" name="Google Shape;371;p37"/>
          <p:cNvSpPr txBox="1">
            <a:spLocks/>
          </p:cNvSpPr>
          <p:nvPr/>
        </p:nvSpPr>
        <p:spPr>
          <a:xfrm>
            <a:off x="912116" y="414820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</a:t>
            </a:r>
            <a:endParaRPr 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067" y="1353210"/>
            <a:ext cx="3986518" cy="288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20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49" y="1306285"/>
            <a:ext cx="3433869" cy="268946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20" y="1397175"/>
            <a:ext cx="3622210" cy="250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49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3;p33"/>
          <p:cNvSpPr txBox="1">
            <a:spLocks noGrp="1"/>
          </p:cNvSpPr>
          <p:nvPr>
            <p:ph type="title"/>
          </p:nvPr>
        </p:nvSpPr>
        <p:spPr>
          <a:xfrm>
            <a:off x="4199575" y="2540900"/>
            <a:ext cx="4383600" cy="12726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모델 설계 및 구현 </a:t>
            </a:r>
            <a:b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(2.5</a:t>
            </a:r>
            <a:r>
              <a:rPr lang="ko-KR" altLang="en-US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</a:t>
            </a:r>
            <a:r>
              <a:rPr lang="en-US" altLang="ko-KR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sz="3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Google Shape;294;p33"/>
          <p:cNvSpPr txBox="1">
            <a:spLocks/>
          </p:cNvSpPr>
          <p:nvPr/>
        </p:nvSpPr>
        <p:spPr>
          <a:xfrm>
            <a:off x="4199575" y="1605326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pace Grotesk"/>
              <a:buNone/>
              <a:defRPr sz="60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" sz="5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05</a:t>
            </a:r>
          </a:p>
        </p:txBody>
      </p:sp>
      <p:pic>
        <p:nvPicPr>
          <p:cNvPr id="6" name="Google Shape;42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907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별 분류 기능 추가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47" y="874747"/>
            <a:ext cx="3939881" cy="286536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28638" y="3925942"/>
            <a:ext cx="43219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라벨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인코딩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진행 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988" y="952409"/>
            <a:ext cx="2076050" cy="250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57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649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별 분류 기능 추가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614863" y="678596"/>
            <a:ext cx="43219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 예측하도록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값을 지정 후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</a:p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 모델과 동일한 방식으로 모델 학습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95" y="678596"/>
            <a:ext cx="3863999" cy="1167137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3681414" y="1877617"/>
            <a:ext cx="525541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전반적으로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precision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 높은 편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이지만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일부 클래스는 성능이 낮게 나타남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는 정의가 모호하여 명확한 분류가 어려움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대리운전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 데이터 수가 적어 모델이 학습하기에 충분하지 않음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도박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선거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정치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타입은 나름 높은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precision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 기록했지만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다른 타입에 비해 상대적으로 낮은 성능을 보임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', '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대리운전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클래스는 제거하거나 재정의할 필요 있음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도박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'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타입은 데이터 보강 후 </a:t>
            </a:r>
            <a:r>
              <a:rPr lang="ko-KR" altLang="en-US" b="1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재학습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통해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precision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향상을 기대할 수 있음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7A9AE9-7706-E61E-096E-DD8956877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05" y="2008742"/>
            <a:ext cx="2963131" cy="296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14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FE8C100-2C17-CBED-A801-69CE9004F4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0461" y="458883"/>
            <a:ext cx="5338859" cy="17516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441DA98-3CD5-26AE-63A0-D151269B8A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8243" y="2339828"/>
            <a:ext cx="3396349" cy="268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38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777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대리운전 </a:t>
            </a:r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46" y="797450"/>
            <a:ext cx="5163271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42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9197" y="73366"/>
            <a:ext cx="777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도박 </a:t>
            </a:r>
            <a:r>
              <a:rPr lang="en-US" altLang="ko-KR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 </a:t>
            </a: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보강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90166" y="771643"/>
            <a:ext cx="61677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→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176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 도박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스팸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문자 추가 분류 후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데이터 셋에 보강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2131" r="2833" b="5399"/>
          <a:stretch/>
        </p:blipFill>
        <p:spPr>
          <a:xfrm>
            <a:off x="695146" y="1185981"/>
            <a:ext cx="4048304" cy="36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08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결론 및 시사점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 idx="2"/>
          </p:nvPr>
        </p:nvSpPr>
        <p:spPr>
          <a:xfrm>
            <a:off x="4047175" y="1445838"/>
            <a:ext cx="1230300" cy="881400"/>
          </a:xfrm>
        </p:spPr>
        <p:txBody>
          <a:bodyPr/>
          <a:lstStyle/>
          <a:p>
            <a:r>
              <a:rPr lang="en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06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5234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0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6651" y="1850065"/>
            <a:ext cx="387734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5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감사합니다</a:t>
            </a:r>
            <a:r>
              <a:rPr lang="en-US" altLang="ko-KR" sz="45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  <a:p>
            <a:endParaRPr lang="en-US" altLang="ko-KR" sz="1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이지우 장동환 나정연 이채윤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6651" y="1378686"/>
            <a:ext cx="3877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B3CAF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DL </a:t>
            </a:r>
            <a:r>
              <a:rPr lang="ko-KR" altLang="en-US" sz="2000" dirty="0">
                <a:solidFill>
                  <a:srgbClr val="B3CAF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</a:t>
            </a:r>
          </a:p>
        </p:txBody>
      </p:sp>
      <p:pic>
        <p:nvPicPr>
          <p:cNvPr id="5" name="Google Shape;5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1436</Words>
  <Application>Microsoft Office PowerPoint</Application>
  <PresentationFormat>화면 슬라이드 쇼(16:9)</PresentationFormat>
  <Paragraphs>202</Paragraphs>
  <Slides>41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41</vt:i4>
      </vt:variant>
    </vt:vector>
  </HeadingPairs>
  <TitlesOfParts>
    <vt:vector size="51" baseType="lpstr">
      <vt:lpstr>Anaheim</vt:lpstr>
      <vt:lpstr>Cairo</vt:lpstr>
      <vt:lpstr>Proxima Nova</vt:lpstr>
      <vt:lpstr>Space Grotesk</vt:lpstr>
      <vt:lpstr>Space Grotesk Medium</vt:lpstr>
      <vt:lpstr>나눔고딕 ExtraBold</vt:lpstr>
      <vt:lpstr>Arial</vt:lpstr>
      <vt:lpstr>Raleway</vt:lpstr>
      <vt:lpstr>Data Migration Project Proposal by Slidesgo</vt:lpstr>
      <vt:lpstr>Slidesgo Final Pages</vt:lpstr>
      <vt:lpstr>스팸 문자 분류 모델</vt:lpstr>
      <vt:lpstr>01</vt:lpstr>
      <vt:lpstr>문제의식과 해결방향성</vt:lpstr>
      <vt:lpstr>PowerPoint 프레젠테이션</vt:lpstr>
      <vt:lpstr>PowerPoint 프레젠테이션</vt:lpstr>
      <vt:lpstr>PowerPoint 프레젠테이션</vt:lpstr>
      <vt:lpstr>02</vt:lpstr>
      <vt:lpstr>PowerPoint 프레젠테이션</vt:lpstr>
      <vt:lpstr>03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모델 설계 및 구현  (2차)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모델 설계 및 구현  (2.5차)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결론 및 시사점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Migration Project Proposal</dc:title>
  <dc:creator>user</dc:creator>
  <cp:lastModifiedBy>3111</cp:lastModifiedBy>
  <cp:revision>179</cp:revision>
  <dcterms:modified xsi:type="dcterms:W3CDTF">2025-06-04T03:33:46Z</dcterms:modified>
</cp:coreProperties>
</file>